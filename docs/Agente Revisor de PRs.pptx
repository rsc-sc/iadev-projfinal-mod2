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Inter SemiBold"/>
      <p:regular r:id="rId8"/>
      <p:bold r:id="rId9"/>
      <p:italic r:id="rId10"/>
      <p:boldItalic r:id="rId11"/>
    </p:embeddedFont>
    <p:embeddedFont>
      <p:font typeface="Inter"/>
      <p:regular r:id="rId12"/>
      <p:bold r:id="rId13"/>
      <p:italic r:id="rId14"/>
      <p:boldItalic r:id="rId15"/>
    </p:embeddedFont>
    <p:embeddedFont>
      <p:font typeface="Inter Medium"/>
      <p:regular r:id="rId16"/>
      <p:bold r:id="rId17"/>
      <p:italic r:id="rId18"/>
      <p:boldItalic r:id="rId19"/>
    </p:embeddedFont>
    <p:embeddedFont>
      <p:font typeface="JetBrains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regular.fntdata"/><Relationship Id="rId11" Type="http://schemas.openxmlformats.org/officeDocument/2006/relationships/font" Target="fonts/InterSemiBold-boldItalic.fntdata"/><Relationship Id="rId22" Type="http://schemas.openxmlformats.org/officeDocument/2006/relationships/font" Target="fonts/JetBrainsMono-italic.fntdata"/><Relationship Id="rId10" Type="http://schemas.openxmlformats.org/officeDocument/2006/relationships/font" Target="fonts/InterSemiBold-italic.fntdata"/><Relationship Id="rId21" Type="http://schemas.openxmlformats.org/officeDocument/2006/relationships/font" Target="fonts/JetBrainsMono-bold.fntdata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23" Type="http://schemas.openxmlformats.org/officeDocument/2006/relationships/font" Target="fonts/JetBrains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SemiBold-bold.fntdata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17" Type="http://schemas.openxmlformats.org/officeDocument/2006/relationships/font" Target="fonts/InterMedium-bold.fntdata"/><Relationship Id="rId16" Type="http://schemas.openxmlformats.org/officeDocument/2006/relationships/font" Target="fonts/InterMedium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Medium-boldItalic.fntdata"/><Relationship Id="rId6" Type="http://schemas.openxmlformats.org/officeDocument/2006/relationships/slide" Target="slides/slide1.xml"/><Relationship Id="rId18" Type="http://schemas.openxmlformats.org/officeDocument/2006/relationships/font" Target="fonts/InterMedium-italic.fntdata"/><Relationship Id="rId7" Type="http://schemas.openxmlformats.org/officeDocument/2006/relationships/slide" Target="slides/slide2.xml"/><Relationship Id="rId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30.png"/><Relationship Id="rId13" Type="http://schemas.openxmlformats.org/officeDocument/2006/relationships/image" Target="../media/image15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3.png"/><Relationship Id="rId15" Type="http://schemas.openxmlformats.org/officeDocument/2006/relationships/image" Target="../media/image5.png"/><Relationship Id="rId14" Type="http://schemas.openxmlformats.org/officeDocument/2006/relationships/image" Target="../media/image31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7.png"/><Relationship Id="rId11" Type="http://schemas.openxmlformats.org/officeDocument/2006/relationships/image" Target="../media/image18.png"/><Relationship Id="rId10" Type="http://schemas.openxmlformats.org/officeDocument/2006/relationships/image" Target="../media/image26.png"/><Relationship Id="rId21" Type="http://schemas.openxmlformats.org/officeDocument/2006/relationships/image" Target="../media/image17.png"/><Relationship Id="rId13" Type="http://schemas.openxmlformats.org/officeDocument/2006/relationships/image" Target="../media/image22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21.png"/><Relationship Id="rId15" Type="http://schemas.openxmlformats.org/officeDocument/2006/relationships/image" Target="../media/image16.png"/><Relationship Id="rId14" Type="http://schemas.openxmlformats.org/officeDocument/2006/relationships/image" Target="../media/image25.png"/><Relationship Id="rId17" Type="http://schemas.openxmlformats.org/officeDocument/2006/relationships/image" Target="../media/image20.png"/><Relationship Id="rId16" Type="http://schemas.openxmlformats.org/officeDocument/2006/relationships/image" Target="../media/image24.png"/><Relationship Id="rId5" Type="http://schemas.openxmlformats.org/officeDocument/2006/relationships/image" Target="../media/image13.png"/><Relationship Id="rId19" Type="http://schemas.openxmlformats.org/officeDocument/2006/relationships/image" Target="../media/image23.png"/><Relationship Id="rId6" Type="http://schemas.openxmlformats.org/officeDocument/2006/relationships/image" Target="../media/image10.png"/><Relationship Id="rId18" Type="http://schemas.openxmlformats.org/officeDocument/2006/relationships/image" Target="../media/image28.png"/><Relationship Id="rId7" Type="http://schemas.openxmlformats.org/officeDocument/2006/relationships/image" Target="../media/image12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0" y="-1428750"/>
            <a:ext cx="4762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952500" y="3524250"/>
            <a:ext cx="4762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337220"/>
            <a:ext cx="53340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032670"/>
            <a:ext cx="53340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1337220"/>
            <a:ext cx="53340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3032670"/>
            <a:ext cx="533400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616267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571500" y="6315075"/>
            <a:ext cx="38290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IA para Desenvolvedores — Módulo 2 | Miniprojeto Avaliativo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1277600" y="6315075"/>
            <a:ext cx="342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09625" y="1918245"/>
            <a:ext cx="4857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Revisar Pull Requests manualmente é demorado, trabalhoso e sujeito a inconsistências. Em projetos com múltiplos PRs abertos, revisores podem deixar passar problemas cruciais.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38200" y="3613695"/>
            <a:ext cx="48291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Desenvolver um agente inteligente utilizando </a:t>
            </a: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LangGraph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que automatiza o pipeline de revisão, assegurando qualidade, segurança e conformidade com boas práticas.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524625" y="1918245"/>
            <a:ext cx="4857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agente recebe a URL, mapeia os PRs abertos, extrai o diff do código modificado, processa as alterações com Inteligência Artificial e publica os comentários diretamente no GitHub.</a:t>
            </a:r>
            <a:endParaRPr/>
          </a:p>
        </p:txBody>
      </p:sp>
      <p:pic>
        <p:nvPicPr>
          <p:cNvPr descr="image.png" id="97" name="Google Shape;97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159439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8200" y="328984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24625" y="159439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24625" y="328984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6686550" y="3613695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Entrada: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URL pública do repositório no GitHub.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6686550" y="3918495"/>
            <a:ext cx="4695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Saída: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Relatório em Markdown no próprio PR contendo "Pontos Positivos" e "Oportunidades de Melhoria".</a:t>
            </a:r>
            <a:endParaRPr/>
          </a:p>
        </p:txBody>
      </p:sp>
      <p:pic>
        <p:nvPicPr>
          <p:cNvPr descr="image.png" id="103" name="Google Shape;103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24625" y="365179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24625" y="3956595"/>
            <a:ext cx="857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714375" y="571500"/>
            <a:ext cx="11451431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Agente Revisor de </a:t>
            </a:r>
            <a:r>
              <a:rPr b="1" i="0" lang="en-US" sz="315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Pull Requests</a:t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571500" y="571500"/>
            <a:ext cx="47625" cy="47997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1095375" y="1575345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 Problema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1152525" y="3270795"/>
            <a:ext cx="47405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Proposta do Agente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6858000" y="1575345"/>
            <a:ext cx="47505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Processo Automatizado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6810375" y="3270795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Entradas &amp; Saídas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-1428750"/>
            <a:ext cx="4762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37220"/>
            <a:ext cx="5334000" cy="507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7875" y="1537245"/>
            <a:ext cx="23812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7875" y="1984920"/>
            <a:ext cx="23812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47875" y="2594520"/>
            <a:ext cx="23812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47875" y="3204120"/>
            <a:ext cx="23812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71675" y="3851820"/>
            <a:ext cx="2533650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47875" y="5880645"/>
            <a:ext cx="23812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143125" y="4099470"/>
            <a:ext cx="21907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143125" y="4785270"/>
            <a:ext cx="2190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143125" y="5309145"/>
            <a:ext cx="2190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71500" y="616267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/>
        </p:nvSpPr>
        <p:spPr>
          <a:xfrm>
            <a:off x="571500" y="6315075"/>
            <a:ext cx="342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Repositório: </a:t>
            </a:r>
            <a:r>
              <a:rPr b="0" i="0" lang="en-US" sz="105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github.com/RSC-SC/IADev-MiniProj-Mod2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1163300" y="6315075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v1.1.0</a:t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3228975" y="1870620"/>
            <a:ext cx="19050" cy="114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228975" y="2480220"/>
            <a:ext cx="19050" cy="114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3228975" y="3089820"/>
            <a:ext cx="19050" cy="114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3228975" y="3699420"/>
            <a:ext cx="19050" cy="114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3228975" y="5766345"/>
            <a:ext cx="19050" cy="114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2676525" y="3937545"/>
            <a:ext cx="11239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6B6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LOOP PARA CADA PR</a:t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3228975" y="4632870"/>
            <a:ext cx="19050" cy="114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3228975" y="5156745"/>
            <a:ext cx="19050" cy="114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7" name="Google Shape;137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467475" y="1607790"/>
            <a:ext cx="2857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6896100" y="1564927"/>
            <a:ext cx="27908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Framework de Agentes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LangGraph (StateGraph com Nós e Arestas)</a:t>
            </a:r>
            <a:endParaRPr/>
          </a:p>
        </p:txBody>
      </p:sp>
      <p:pic>
        <p:nvPicPr>
          <p:cNvPr descr="image.png" id="139" name="Google Shape;139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467475" y="2472928"/>
            <a:ext cx="2857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4"/>
          <p:cNvSpPr txBox="1"/>
          <p:nvPr/>
        </p:nvSpPr>
        <p:spPr>
          <a:xfrm>
            <a:off x="6896100" y="2430065"/>
            <a:ext cx="15525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LLM Primário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Google Gemini 2.0 Flash</a:t>
            </a:r>
            <a:endParaRPr/>
          </a:p>
        </p:txBody>
      </p:sp>
      <p:pic>
        <p:nvPicPr>
          <p:cNvPr descr="image.png" id="141" name="Google Shape;141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467475" y="3338066"/>
            <a:ext cx="2857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/>
          <p:nvPr/>
        </p:nvSpPr>
        <p:spPr>
          <a:xfrm>
            <a:off x="6896100" y="3295203"/>
            <a:ext cx="25908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LLM Fallback (OpenRouter)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nvidia/nemotron-3-super-120b-a12b:free</a:t>
            </a:r>
            <a:endParaRPr/>
          </a:p>
        </p:txBody>
      </p:sp>
      <p:pic>
        <p:nvPicPr>
          <p:cNvPr descr="image.png" id="143" name="Google Shape;143;p1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467475" y="4203203"/>
            <a:ext cx="2857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/>
        </p:nvSpPr>
        <p:spPr>
          <a:xfrm>
            <a:off x="6896100" y="4160341"/>
            <a:ext cx="30575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Integração GitHub API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PyGithub (Leitura de PRs + Escrita de Revisões)</a:t>
            </a:r>
            <a:endParaRPr/>
          </a:p>
        </p:txBody>
      </p:sp>
      <p:pic>
        <p:nvPicPr>
          <p:cNvPr descr="image.png" id="145" name="Google Shape;145;p1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467475" y="5068490"/>
            <a:ext cx="2857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 txBox="1"/>
          <p:nvPr/>
        </p:nvSpPr>
        <p:spPr>
          <a:xfrm>
            <a:off x="6896100" y="5025628"/>
            <a:ext cx="9334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Linguagem Base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Python 3.10+</a:t>
            </a:r>
            <a:endParaRPr/>
          </a:p>
        </p:txBody>
      </p:sp>
      <p:pic>
        <p:nvPicPr>
          <p:cNvPr descr="image.png" id="147" name="Google Shape;147;p1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467475" y="5933777"/>
            <a:ext cx="2857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4"/>
          <p:cNvSpPr txBox="1"/>
          <p:nvPr/>
        </p:nvSpPr>
        <p:spPr>
          <a:xfrm>
            <a:off x="6896100" y="5890914"/>
            <a:ext cx="2743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Persistência &amp; Memória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Histórico de revisões gerenciado em JSON</a:t>
            </a:r>
            <a:endParaRPr/>
          </a:p>
        </p:txBody>
      </p:sp>
      <p:pic>
        <p:nvPicPr>
          <p:cNvPr descr="image.png" id="149" name="Google Shape;149;p1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676525" y="3947070"/>
            <a:ext cx="9525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/>
          <p:nvPr/>
        </p:nvSpPr>
        <p:spPr>
          <a:xfrm>
            <a:off x="714375" y="571500"/>
            <a:ext cx="11451431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Fluxo de Execução &amp; </a:t>
            </a:r>
            <a:r>
              <a:rPr b="1" i="0" lang="en-US" sz="315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Stack</a:t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571500" y="571500"/>
            <a:ext cx="47625" cy="47997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